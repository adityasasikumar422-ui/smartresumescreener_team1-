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4342">
              <a:alpha val="8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2.png"/><Relationship Id="rId5" Type="http://schemas.openxmlformats.org/officeDocument/2006/relationships/image" Target="../media/image-13-3.svg"/><Relationship Id="rId6" Type="http://schemas.openxmlformats.org/officeDocument/2006/relationships/image" Target="../media/image-13-2.png"/><Relationship Id="rId7" Type="http://schemas.openxmlformats.org/officeDocument/2006/relationships/image" Target="../media/image-13-3.svg"/><Relationship Id="rId8" Type="http://schemas.openxmlformats.org/officeDocument/2006/relationships/image" Target="../media/image-13-2.png"/><Relationship Id="rId9" Type="http://schemas.openxmlformats.org/officeDocument/2006/relationships/image" Target="../media/image-1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Resume Screener &amp; Job Recommendation Portal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Capstone Project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7552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Job Roles &amp; Skill Taxonomy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478359"/>
            <a:ext cx="227225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 Job Roles Supported: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1891308"/>
            <a:ext cx="2272251" cy="2403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Scientist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Web Developer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DevOps Engineer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Android Developer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Analyst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Engineer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 Developer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Developer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350831" y="1478359"/>
            <a:ext cx="3613754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Skill Categories: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350831" y="1891308"/>
            <a:ext cx="3613754" cy="2755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Programming: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Python, Java, JavaScript, Kotlin, HTML, CSS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ML/Data: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TensorFlow, PyTorch, Pandas, NumPy, Scikit-learn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Cloud: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AWS, Docker, Kubernetes, Azure, Terraform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Databases: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SQL, MongoDB, PostgreSQL, Redis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Tools: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Git, Jenkins, Figma, Tableau, Power BI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4924028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Live Job Database: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61475" y="5411887"/>
            <a:ext cx="6296860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 sample job openings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 salary ranges (7-22 LPA)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Experience requirements (1-6 years)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18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Requirements &amp; Setup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007666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Dependencies: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432818"/>
            <a:ext cx="10868745" cy="2083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scikit-learn &gt;= 1.3.0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numpy &gt;= 1.24.0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pandas &gt;= 2.0.0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matplotlib &gt;= 3.7.0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seaborn &gt;= 0.12.0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wordcloud &gt;= 1.9.0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flask &gt;= 3.0.0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gradio &gt;= 4.0.0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nltk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3675856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Installation: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61475" y="4101009"/>
            <a:ext cx="10868745" cy="510183"/>
          </a:xfrm>
          <a:prstGeom prst="roundRect">
            <a:avLst>
              <a:gd name="adj" fmla="val 4168"/>
            </a:avLst>
          </a:prstGeom>
          <a:solidFill>
            <a:srgbClr val="53504F"/>
          </a:solidFill>
          <a:ln/>
        </p:spPr>
      </p:sp>
      <p:sp>
        <p:nvSpPr>
          <p:cNvPr id="7" name="Text 5"/>
          <p:cNvSpPr/>
          <p:nvPr/>
        </p:nvSpPr>
        <p:spPr>
          <a:xfrm>
            <a:off x="831532" y="4242693"/>
            <a:ext cx="1113821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4770636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Running the Application: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61475" y="5195788"/>
            <a:ext cx="10868745" cy="510183"/>
          </a:xfrm>
          <a:prstGeom prst="roundRect">
            <a:avLst>
              <a:gd name="adj" fmla="val 4168"/>
            </a:avLst>
          </a:prstGeom>
          <a:solidFill>
            <a:srgbClr val="53504F"/>
          </a:solidFill>
          <a:ln/>
        </p:spPr>
      </p:sp>
      <p:sp>
        <p:nvSpPr>
          <p:cNvPr id="10" name="Text 8"/>
          <p:cNvSpPr/>
          <p:nvPr/>
        </p:nvSpPr>
        <p:spPr>
          <a:xfrm>
            <a:off x="831532" y="5337473"/>
            <a:ext cx="1113821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Flask: `python app.py` → http://127.0.0.1:5000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1475" y="5825530"/>
            <a:ext cx="10868745" cy="510183"/>
          </a:xfrm>
          <a:prstGeom prst="roundRect">
            <a:avLst>
              <a:gd name="adj" fmla="val 4168"/>
            </a:avLst>
          </a:prstGeom>
          <a:solidFill>
            <a:srgbClr val="53504F"/>
          </a:solidFill>
          <a:ln/>
        </p:spPr>
      </p:sp>
      <p:sp>
        <p:nvSpPr>
          <p:cNvPr id="12" name="Text 10"/>
          <p:cNvSpPr/>
          <p:nvPr/>
        </p:nvSpPr>
        <p:spPr>
          <a:xfrm>
            <a:off x="831532" y="5967214"/>
            <a:ext cx="1113821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Gradio: `python gradio_demo.py` → Local web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060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Gradio Demo Interface (Ticket 3)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76549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076549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User-Friendly Interface: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485231"/>
            <a:ext cx="275672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Paste resume text in textarea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Instant analysis and results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technical knowledge required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076549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076549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Output Display: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485231"/>
            <a:ext cx="2756724" cy="305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Predicted job role with confidence percentage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Detected skills list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3 job matches with:</a:t>
            </a:r>
            <a:endParaRPr lang="en-US" sz="1450" dirty="0"/>
          </a:p>
          <a:p>
            <a:pPr algn="l" lvl="1" marL="589280" indent="-294640">
              <a:lnSpc>
                <a:spcPct val="133000"/>
              </a:lnSpc>
              <a:buSzPct val="100000"/>
              <a:buChar char="◦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Job title, company, location, salary</a:t>
            </a:r>
            <a:endParaRPr lang="en-US" sz="1450" dirty="0"/>
          </a:p>
          <a:p>
            <a:pPr algn="l" lvl="1" marL="589280" indent="-294640">
              <a:lnSpc>
                <a:spcPct val="133000"/>
              </a:lnSpc>
              <a:buSzPct val="100000"/>
              <a:buChar char="◦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Fit score percentage</a:t>
            </a:r>
            <a:endParaRPr lang="en-US" sz="1450" dirty="0"/>
          </a:p>
          <a:p>
            <a:pPr algn="l" lvl="1" marL="589280" indent="-294640">
              <a:lnSpc>
                <a:spcPct val="133000"/>
              </a:lnSpc>
              <a:buSzPct val="100000"/>
              <a:buChar char="◦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Matched and missing skills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076549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076549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Deployment: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2485231"/>
            <a:ext cx="2756724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Shareable web link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Works on any device with browser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Example resume provided for testing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844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Deployment (Ticket 3)</a:t>
            </a:r>
            <a:endParaRPr lang="en-US" sz="3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12168"/>
            <a:ext cx="6296860" cy="155932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192" y="1967706"/>
            <a:ext cx="248041" cy="24804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486657" y="1496516"/>
            <a:ext cx="52873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Pipeline Serialization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1486657" y="1841798"/>
            <a:ext cx="5287334" cy="84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 trained model, TF-IDF vectorizer, label encoder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 job skills taxonomy and job database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Pickle format: resume_pipeline.pkl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016151"/>
            <a:ext cx="6296860" cy="185797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192" y="3821013"/>
            <a:ext cx="248041" cy="248047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486657" y="3200499"/>
            <a:ext cx="52873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Flask Web Application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1486657" y="3545780"/>
            <a:ext cx="5287334" cy="114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Role-based access (Candidate/HR views)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Resume upload and text input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role prediction with confidence scores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job recommendations</a:t>
            </a:r>
            <a:endParaRPr lang="en-US" sz="13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5018782"/>
            <a:ext cx="6296860" cy="1260673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7192" y="5524996"/>
            <a:ext cx="248041" cy="248047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486657" y="5203130"/>
            <a:ext cx="52873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 API Endpoints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1486657" y="5548412"/>
            <a:ext cx="5287334" cy="54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 /api/predict — JSON resume analysis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GET /api/jobs — Retrieve job database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4356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Fit Score &amp; Job Recommender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31404"/>
            <a:ext cx="383868" cy="3838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771253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Skill Extraction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61475" y="2085975"/>
            <a:ext cx="629686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Extract all detected skills from resume text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Match against comprehensive skill taxonomy (70+ skills)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24460"/>
            <a:ext cx="383868" cy="3838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3364309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Fit Score Calculation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61475" y="3679031"/>
            <a:ext cx="6296860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Formula: (matched_skills / required_skills) × 100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Ranges from 0% to 100%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Color-coded: Green (≥70%), Yellow (40-69%), Red (&lt;40%)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83820"/>
            <a:ext cx="383868" cy="3838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5223669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Job Recommendations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661475" y="5538391"/>
            <a:ext cx="6296860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3 matching jobs ranked by fit score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Display matched and missing skills for each job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Include location, salary, experience requirements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06004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Training (Ticket 2)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96195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Four Classification Models Trained: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476996"/>
            <a:ext cx="6296860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Logistic Regression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max_iter=500, C=1.5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Random Forest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200 estimators, max_depth=20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Gradient Boosting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150 estimators, learning_rate=0.1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Linear SVM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C=1.0, max_iter=1000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09753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Evaluation Metrics: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4612580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Accuracy, Macro F1, Weighted F1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Precision, Recall per class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Confusion matrices for all models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519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Extraction (Ticket 2)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526084"/>
            <a:ext cx="6296860" cy="2245420"/>
          </a:xfrm>
          <a:prstGeom prst="roundRect">
            <a:avLst>
              <a:gd name="adj" fmla="val 1263"/>
            </a:avLst>
          </a:prstGeom>
          <a:solidFill>
            <a:srgbClr val="464342"/>
          </a:solidFill>
          <a:ln w="25399">
            <a:solidFill>
              <a:srgbClr val="504D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47767" y="1740495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TF-IDF Vectorization: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47767" y="2149177"/>
            <a:ext cx="5868047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Max features: 5,000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N-gram range: (1, 2) — unigrams and bigrams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Sublinear TF scaling enabled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Minimum document frequency: 2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3960515"/>
            <a:ext cx="6296860" cy="2245420"/>
          </a:xfrm>
          <a:prstGeom prst="roundRect">
            <a:avLst>
              <a:gd name="adj" fmla="val 1263"/>
            </a:avLst>
          </a:prstGeom>
          <a:solidFill>
            <a:srgbClr val="464342"/>
          </a:solidFill>
          <a:ln w="25399">
            <a:solidFill>
              <a:srgbClr val="504D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7767" y="4174927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Train-Test Split: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47767" y="4583609"/>
            <a:ext cx="5868047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Training set: 640 resumes (80%)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 set: 160 resumes (20%)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Stratified split by job role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Output shape: 640 × 5,000 feature matrix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6560"/>
            <a:ext cx="6296860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Text Preprocessing (Ticket 1)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5233360" y="1001018"/>
            <a:ext cx="6296860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Cleaning Pipeline: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233360" y="1463377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233360" y="1700213"/>
            <a:ext cx="6296860" cy="1905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1813620"/>
            <a:ext cx="629686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Remove URLs and special characters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33360" y="2281833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3360" y="2518668"/>
            <a:ext cx="6296860" cy="1905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632075"/>
            <a:ext cx="629686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Convert to lowercase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233360" y="3100288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33360" y="3337123"/>
            <a:ext cx="6296860" cy="1905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3" name="Text 10"/>
          <p:cNvSpPr/>
          <p:nvPr/>
        </p:nvSpPr>
        <p:spPr>
          <a:xfrm>
            <a:off x="5233360" y="3450530"/>
            <a:ext cx="629686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Remove stopwords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233360" y="3757811"/>
            <a:ext cx="629686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(the, is, in, and, of, to, a, an, for, on, with)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233360" y="4207173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233360" y="4444008"/>
            <a:ext cx="6296860" cy="1905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7" name="Text 14"/>
          <p:cNvSpPr/>
          <p:nvPr/>
        </p:nvSpPr>
        <p:spPr>
          <a:xfrm>
            <a:off x="5233360" y="4557415"/>
            <a:ext cx="629686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Filter words with length &gt; 2 characters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233360" y="5085655"/>
            <a:ext cx="6296860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Results: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233360" y="5548015"/>
            <a:ext cx="629686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resume length: ~100 words (raw) → ~60 words (cleaned)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Preserves domain-specific terminology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Standardized format for model input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8457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1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58690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247702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Lead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2656384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Karthika P Mohanan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336826"/>
            <a:ext cx="6296860" cy="2336602"/>
          </a:xfrm>
          <a:prstGeom prst="roundRect">
            <a:avLst>
              <a:gd name="adj" fmla="val 1213"/>
            </a:avLst>
          </a:prstGeom>
          <a:solidFill>
            <a:srgbClr val="373433"/>
          </a:solidFill>
          <a:ln/>
        </p:spPr>
      </p:sp>
      <p:sp>
        <p:nvSpPr>
          <p:cNvPr id="8" name="Text 5"/>
          <p:cNvSpPr/>
          <p:nvPr/>
        </p:nvSpPr>
        <p:spPr>
          <a:xfrm>
            <a:off x="850482" y="3525838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Members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482" y="3934520"/>
            <a:ext cx="5918846" cy="154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Fathima PM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Fousia TS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Aditya Sasikumar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Fathimath Zuhara PM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Overview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807494"/>
            <a:ext cx="350421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intelligent web application that automatically analyzes uploaded resumes using NLP-driven Machine Learning models and identifies the most suitable job roles for each candidate. The system recommends relevant job openings and highlights key strengths and skill gaps.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834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Dual-Purpose Platform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05216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6088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 HR Professionals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6956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Assists HR professionals by automating the initial screening process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05216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76088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 Job Seekers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6956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Empowers job seekers with personalized career insights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3052167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76088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Smarter Hiring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16956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Makes the hiring process smarter, faster, and more effective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59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Performance Objectives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3017"/>
            <a:ext cx="6936011" cy="30425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63493" y="4491696"/>
            <a:ext cx="1048270" cy="187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Role Prediction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763493" y="4732785"/>
            <a:ext cx="1048270" cy="26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NLP to generate fit-score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093597" y="4303998"/>
            <a:ext cx="1048269" cy="37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Skill Gap Insights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93597" y="4732785"/>
            <a:ext cx="1048269" cy="26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Highlight missing skills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5145" y="2506473"/>
            <a:ext cx="1048269" cy="37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Resume Analysis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5145" y="2935259"/>
            <a:ext cx="1048269" cy="26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Extract skills and experience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51903" y="2506473"/>
            <a:ext cx="1048269" cy="56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Job Recommendation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451903" y="3122958"/>
            <a:ext cx="1048269" cy="26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Suggest best-matching openings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1333" y="1319113"/>
            <a:ext cx="3565138" cy="11276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17191" y="1488777"/>
            <a:ext cx="3149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Resume Analysis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217191" y="1844080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Extract and process resume content to identify skills and experience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1333" y="2566690"/>
            <a:ext cx="3565138" cy="11276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7191" y="2736354"/>
            <a:ext cx="3149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Job Role Prediction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17191" y="3091656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NLP models to predict suitable roles with fit-score evaluation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1333" y="3814266"/>
            <a:ext cx="3565138" cy="11276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17191" y="3983930"/>
            <a:ext cx="3149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Job Recommendation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217191" y="4339233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Suggest best-matching job openings based on skill match</a:t>
            </a:r>
            <a:endParaRPr lang="en-US" sz="11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1333" y="5061843"/>
            <a:ext cx="3565138" cy="11276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17191" y="5231507"/>
            <a:ext cx="3149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Skill Gap Insights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8217191" y="5586809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Highlight missing or weak skills for improvement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0039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Technical Implementation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474516"/>
            <a:ext cx="6296860" cy="2783086"/>
          </a:xfrm>
          <a:prstGeom prst="roundRect">
            <a:avLst>
              <a:gd name="adj" fmla="val 1019"/>
            </a:avLst>
          </a:prstGeom>
          <a:solidFill>
            <a:srgbClr val="373433"/>
          </a:solidFill>
          <a:ln/>
        </p:spPr>
      </p:sp>
      <p:sp>
        <p:nvSpPr>
          <p:cNvPr id="5" name="Shape 2"/>
          <p:cNvSpPr/>
          <p:nvPr/>
        </p:nvSpPr>
        <p:spPr>
          <a:xfrm>
            <a:off x="661475" y="2474516"/>
            <a:ext cx="3148430" cy="1693962"/>
          </a:xfrm>
          <a:custGeom>
            <a:avLst/>
            <a:gdLst/>
            <a:ahLst/>
            <a:cxnLst/>
            <a:rect l="l" t="t" r="r" b="b"/>
            <a:pathLst>
              <a:path w="3148430" h="1693962">
                <a:moveTo>
                  <a:pt x="23627" y="0"/>
                </a:moveTo>
                <a:lnTo>
                  <a:pt x="3148430" y="0"/>
                </a:lnTo>
                <a:lnTo>
                  <a:pt x="3148430" y="1693962"/>
                </a:lnTo>
                <a:lnTo>
                  <a:pt x="0" y="1693962"/>
                </a:lnTo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373433"/>
          </a:solidFill>
          <a:ln/>
        </p:spPr>
      </p:sp>
      <p:sp>
        <p:nvSpPr>
          <p:cNvPr id="6" name="Text 3"/>
          <p:cNvSpPr/>
          <p:nvPr/>
        </p:nvSpPr>
        <p:spPr>
          <a:xfrm>
            <a:off x="850482" y="2663527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Web App Development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072209"/>
            <a:ext cx="27704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Flask-based application with role-based access (Candidate/HR)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809905" y="2474516"/>
            <a:ext cx="3148430" cy="1693962"/>
          </a:xfrm>
          <a:custGeom>
            <a:avLst/>
            <a:gdLst/>
            <a:ahLst/>
            <a:cxnLst/>
            <a:rect l="l" t="t" r="r" b="b"/>
            <a:pathLst>
              <a:path w="3148430" h="1693962">
                <a:moveTo>
                  <a:pt x="0" y="0"/>
                </a:moveTo>
                <a:lnTo>
                  <a:pt x="3124803" y="0"/>
                </a:lnTo>
                <a:arcTo hR="23628" wR="23627" stAng="16200000" swAng="5400000"/>
                <a:lnTo>
                  <a:pt x="3148430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373433"/>
          </a:solidFill>
          <a:ln/>
        </p:spPr>
      </p:sp>
      <p:sp>
        <p:nvSpPr>
          <p:cNvPr id="9" name="Shape 6"/>
          <p:cNvSpPr/>
          <p:nvPr/>
        </p:nvSpPr>
        <p:spPr>
          <a:xfrm>
            <a:off x="3809905" y="2474516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504D4C"/>
          </a:solidFill>
          <a:ln/>
        </p:spPr>
      </p:sp>
      <p:sp>
        <p:nvSpPr>
          <p:cNvPr id="10" name="Text 7"/>
          <p:cNvSpPr/>
          <p:nvPr/>
        </p:nvSpPr>
        <p:spPr>
          <a:xfrm>
            <a:off x="3998912" y="2663527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Integration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3998912" y="3072209"/>
            <a:ext cx="27704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Resume upload system and dashboards for ranked candidates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4168477"/>
            <a:ext cx="6296860" cy="1089124"/>
          </a:xfrm>
          <a:custGeom>
            <a:avLst/>
            <a:gdLst/>
            <a:ahLst/>
            <a:cxnLst/>
            <a:rect l="l" t="t" r="r" b="b"/>
            <a:pathLst>
              <a:path w="6296860" h="1089124">
                <a:moveTo>
                  <a:pt x="0" y="0"/>
                </a:moveTo>
                <a:lnTo>
                  <a:pt x="6296860" y="0"/>
                </a:lnTo>
                <a:lnTo>
                  <a:pt x="6296860" y="1065496"/>
                </a:lnTo>
                <a:arcTo hR="23628" wR="23627" stAng="0" swAng="5400000"/>
                <a:lnTo>
                  <a:pt x="23627" y="1089124"/>
                </a:lnTo>
                <a:arcTo hR="23628" wR="23627" stAng="5400000" swAng="5400000"/>
                <a:lnTo>
                  <a:pt x="0" y="0"/>
                </a:lnTo>
                <a:close/>
              </a:path>
            </a:pathLst>
          </a:custGeom>
          <a:solidFill>
            <a:srgbClr val="373433"/>
          </a:solidFill>
          <a:ln/>
        </p:spPr>
      </p:sp>
      <p:sp>
        <p:nvSpPr>
          <p:cNvPr id="13" name="Shape 10"/>
          <p:cNvSpPr/>
          <p:nvPr/>
        </p:nvSpPr>
        <p:spPr>
          <a:xfrm>
            <a:off x="661475" y="4168477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04D4C"/>
          </a:solidFill>
          <a:ln/>
        </p:spPr>
      </p:sp>
      <p:sp>
        <p:nvSpPr>
          <p:cNvPr id="14" name="Text 11"/>
          <p:cNvSpPr/>
          <p:nvPr/>
        </p:nvSpPr>
        <p:spPr>
          <a:xfrm>
            <a:off x="850482" y="4357489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Impact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0482" y="4766171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Streamline hiring and reduce manual screening time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337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Guidelines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25030"/>
            <a:ext cx="6925990" cy="39247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90084" y="1504255"/>
            <a:ext cx="365414" cy="365423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5" name="Text 2"/>
          <p:cNvSpPr/>
          <p:nvPr/>
        </p:nvSpPr>
        <p:spPr>
          <a:xfrm>
            <a:off x="8494996" y="1560016"/>
            <a:ext cx="304157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Active Participation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494996" y="1953320"/>
            <a:ext cx="304157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team members must participate actively in project responsibilities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990084" y="2715617"/>
            <a:ext cx="365414" cy="365423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8" name="Text 5"/>
          <p:cNvSpPr/>
          <p:nvPr/>
        </p:nvSpPr>
        <p:spPr>
          <a:xfrm>
            <a:off x="8494996" y="2771378"/>
            <a:ext cx="304157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Scrum Methodology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94996" y="3164681"/>
            <a:ext cx="304157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tracked using Scrum methodology with scheduled team meetings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90084" y="3926979"/>
            <a:ext cx="365414" cy="365423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1" name="Text 8"/>
          <p:cNvSpPr/>
          <p:nvPr/>
        </p:nvSpPr>
        <p:spPr>
          <a:xfrm>
            <a:off x="8494996" y="3982740"/>
            <a:ext cx="304157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Certification Impact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494996" y="4376043"/>
            <a:ext cx="304157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Non-participation may impact internship certification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90084" y="5138341"/>
            <a:ext cx="365414" cy="365423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4" name="Text 11"/>
          <p:cNvSpPr/>
          <p:nvPr/>
        </p:nvSpPr>
        <p:spPr>
          <a:xfrm>
            <a:off x="8494996" y="5194102"/>
            <a:ext cx="304157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Repository Updates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494996" y="5587405"/>
            <a:ext cx="304157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Updates must be pushed to project repositories by team members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89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&amp; EDA (Ticket 1)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1204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Generation: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196332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800 synthetic resumes (100 per job role)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 job roles: Data Scientist, Web Developer, DevOps Engineer, Android Developer, Data Analyst, ML Engineer, Frontend Developer, Backend Developer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Features: Education, experience level, skills, certifications, projects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71204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Exploratory Analysis: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196332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Resume count distribution by role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Word count analysis (box plots)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15 skills frequency in job database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Word clouds per job role showing skill patterns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2026-09-07T12:44:11Z</dcterms:created>
  <dcterms:modified xsi:type="dcterms:W3CDTF">2026-09-07T12:44:11Z</dcterms:modified>
</cp:coreProperties>
</file>